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75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27432"/>
          </a:xfrm>
          <a:prstGeom prst="rect">
            <a:avLst/>
          </a:prstGeom>
          <a:solidFill>
            <a:srgbClr val="FCD11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64008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703320" y="457200"/>
            <a:ext cx="1005840" cy="1005840"/>
          </a:xfrm>
          <a:prstGeom prst="ellipse">
            <a:avLst/>
          </a:prstGeom>
          <a:solidFill>
            <a:srgbClr val="008751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640080"/>
            <a:ext cx="640080" cy="6400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CitizenPass</a:t>
            </a:r>
            <a:endParaRPr lang="en-US" sz="4800" dirty="0"/>
          </a:p>
        </p:txBody>
      </p:sp>
      <p:sp>
        <p:nvSpPr>
          <p:cNvPr id="8" name="Text 4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documents. Partout. Tout le temps.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3200400" y="3200400"/>
            <a:ext cx="2743200" cy="0"/>
          </a:xfrm>
          <a:prstGeom prst="line">
            <a:avLst/>
          </a:prstGeom>
          <a:noFill/>
          <a:ln w="25400">
            <a:solidFill>
              <a:srgbClr val="00875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nationale de dematerialisation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documents administratifs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Republique du Benin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00875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112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11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Probleme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L'administration papier coute cher aux citoyens et a l'Etat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7863840" cy="621792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54864" cy="621792"/>
          </a:xfrm>
          <a:prstGeom prst="rect">
            <a:avLst/>
          </a:prstGeom>
          <a:solidFill>
            <a:srgbClr val="E811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591056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46304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d'attente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840480" y="146304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heures perdues devant les guichets pour un simple document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176272"/>
            <a:ext cx="7863840" cy="621792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2176272"/>
            <a:ext cx="54864" cy="621792"/>
          </a:xfrm>
          <a:prstGeom prst="rect">
            <a:avLst/>
          </a:prstGeom>
          <a:solidFill>
            <a:srgbClr val="E8112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30428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217627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perdus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840480" y="2176272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Deterioration, perte de dossiers, pas de copies numeriques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2889504"/>
            <a:ext cx="7863840" cy="621792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2889504"/>
            <a:ext cx="54864" cy="621792"/>
          </a:xfrm>
          <a:prstGeom prst="rect">
            <a:avLst/>
          </a:prstGeom>
          <a:solidFill>
            <a:srgbClr val="E8112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0175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288950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3840480" y="2889504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Intermediaires non officiels, frais supplementaires illegaux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" y="3602736"/>
            <a:ext cx="7863840" cy="621792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0080" y="3602736"/>
            <a:ext cx="54864" cy="621792"/>
          </a:xfrm>
          <a:prstGeom prst="rect">
            <a:avLst/>
          </a:prstGeom>
          <a:solidFill>
            <a:srgbClr val="E8112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730752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360273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eleve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3840480" y="3602736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Transports, frais multiples, journees de travail perdues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40080" y="4315968"/>
            <a:ext cx="7863840" cy="621792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40080" y="4315968"/>
            <a:ext cx="54864" cy="621792"/>
          </a:xfrm>
          <a:prstGeom prst="rect">
            <a:avLst/>
          </a:prstGeom>
          <a:solidFill>
            <a:srgbClr val="E8112D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443984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08760" y="431596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Manque de transparence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3840480" y="431596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visibilite sur l'avancement des demandes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75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Solution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18872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11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CD1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CitizenPass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371600" y="27432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unique pour demander, telecharger</a:t>
            </a:r>
            <a:endParaRPr lang="en-US" sz="16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verifier ses documents administratifs officiels</a:t>
            </a:r>
            <a:endParaRPr lang="en-US" sz="16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ligne, 24h/24, depuis n'importe ou.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371600" y="3749040"/>
            <a:ext cx="640080" cy="640080"/>
          </a:xfrm>
          <a:prstGeom prst="ellipse">
            <a:avLst/>
          </a:prstGeom>
          <a:solidFill>
            <a:srgbClr val="00875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472" y="386791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4434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24h/24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291840" y="3749040"/>
            <a:ext cx="640080" cy="640080"/>
          </a:xfrm>
          <a:prstGeom prst="ellipse">
            <a:avLst/>
          </a:prstGeom>
          <a:solidFill>
            <a:srgbClr val="00875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712" y="3867912"/>
            <a:ext cx="402336" cy="40233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017520" y="4434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212080" y="3749040"/>
            <a:ext cx="640080" cy="640080"/>
          </a:xfrm>
          <a:prstGeom prst="ellipse">
            <a:avLst/>
          </a:prstGeom>
          <a:solidFill>
            <a:srgbClr val="008751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0952" y="3867912"/>
            <a:ext cx="402336" cy="40233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937760" y="4434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Securise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7132320" y="3749040"/>
            <a:ext cx="640080" cy="640080"/>
          </a:xfrm>
          <a:prstGeom prst="ellipse">
            <a:avLst/>
          </a:prstGeom>
          <a:solidFill>
            <a:srgbClr val="008751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192" y="3867912"/>
            <a:ext cx="402336" cy="40233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858000" y="4434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75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ca marche 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etapes simples pour obtenir vos documents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1920240" cy="54864"/>
          </a:xfrm>
          <a:prstGeom prst="rect">
            <a:avLst/>
          </a:prstGeom>
          <a:solidFill>
            <a:srgbClr val="008751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1737360"/>
            <a:ext cx="731520" cy="731520"/>
          </a:xfrm>
          <a:prstGeom prst="ellipse">
            <a:avLst/>
          </a:prstGeom>
          <a:solidFill>
            <a:srgbClr val="008751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Inscrivez-vous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1546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votre NIN et vos informations personnelles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0" y="19202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8751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606040" y="146304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06040" y="1463040"/>
            <a:ext cx="1920240" cy="54864"/>
          </a:xfrm>
          <a:prstGeom prst="rect">
            <a:avLst/>
          </a:prstGeom>
          <a:solidFill>
            <a:srgbClr val="008751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1737360"/>
            <a:ext cx="731520" cy="731520"/>
          </a:xfrm>
          <a:prstGeom prst="ellipse">
            <a:avLst/>
          </a:prstGeom>
          <a:solidFill>
            <a:srgbClr val="008751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697480" y="2697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Faites votre demande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0" y="31546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Choisissez le document et remplissez le formulaire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19202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8751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4754880" y="146304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463040"/>
            <a:ext cx="1920240" cy="54864"/>
          </a:xfrm>
          <a:prstGeom prst="rect">
            <a:avLst/>
          </a:prstGeom>
          <a:solidFill>
            <a:srgbClr val="008751"/>
          </a:solidFill>
          <a:ln/>
        </p:spPr>
      </p:sp>
      <p:sp>
        <p:nvSpPr>
          <p:cNvPr id="21" name="Shape 19"/>
          <p:cNvSpPr/>
          <p:nvPr/>
        </p:nvSpPr>
        <p:spPr>
          <a:xfrm>
            <a:off x="5349240" y="1737360"/>
            <a:ext cx="731520" cy="731520"/>
          </a:xfrm>
          <a:prstGeom prst="ellipse">
            <a:avLst/>
          </a:prstGeom>
          <a:solidFill>
            <a:srgbClr val="008751"/>
          </a:solidFill>
          <a:ln/>
        </p:spPr>
      </p:sp>
      <p:sp>
        <p:nvSpPr>
          <p:cNvPr id="22" name="Text 20"/>
          <p:cNvSpPr/>
          <p:nvPr/>
        </p:nvSpPr>
        <p:spPr>
          <a:xfrm>
            <a:off x="534924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846320" y="2697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en temps reel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92040" y="31546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Suivez l'avancement de votre demande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0" y="19202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8751"/>
                </a:solidFill>
              </a:rPr>
              <a:t>→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6903720" y="146304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03720" y="1463040"/>
            <a:ext cx="1920240" cy="54864"/>
          </a:xfrm>
          <a:prstGeom prst="rect">
            <a:avLst/>
          </a:prstGeom>
          <a:solidFill>
            <a:srgbClr val="008751"/>
          </a:solidFill>
          <a:ln/>
        </p:spPr>
      </p:sp>
      <p:sp>
        <p:nvSpPr>
          <p:cNvPr id="28" name="Shape 26"/>
          <p:cNvSpPr/>
          <p:nvPr/>
        </p:nvSpPr>
        <p:spPr>
          <a:xfrm>
            <a:off x="7498080" y="1737360"/>
            <a:ext cx="731520" cy="731520"/>
          </a:xfrm>
          <a:prstGeom prst="ellipse">
            <a:avLst/>
          </a:prstGeom>
          <a:solidFill>
            <a:srgbClr val="008751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995160" y="2697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Telechargez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40880" y="31546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Recevez votre document officiel avec QR code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75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Fonctionnalites cles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1554480"/>
          </a:xfrm>
          <a:prstGeom prst="rect">
            <a:avLst/>
          </a:prstGeom>
          <a:solidFill>
            <a:srgbClr val="F8FAF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06040" cy="45720"/>
          </a:xfrm>
          <a:prstGeom prst="rect">
            <a:avLst/>
          </a:prstGeom>
          <a:solidFill>
            <a:srgbClr val="00875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1828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 citoyen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2148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personnel, suivi des demandes, telechargement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188720"/>
            <a:ext cx="2606040" cy="1554480"/>
          </a:xfrm>
          <a:prstGeom prst="rect">
            <a:avLst/>
          </a:prstGeom>
          <a:solidFill>
            <a:srgbClr val="F8FAF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91840" y="1188720"/>
            <a:ext cx="2606040" cy="45720"/>
          </a:xfrm>
          <a:prstGeom prst="rect">
            <a:avLst/>
          </a:prstGeom>
          <a:solidFill>
            <a:srgbClr val="00875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4173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1828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 admin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29000" y="2148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des demandes, statistiques, gestion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188720"/>
            <a:ext cx="2606040" cy="1554480"/>
          </a:xfrm>
          <a:prstGeom prst="rect">
            <a:avLst/>
          </a:prstGeom>
          <a:solidFill>
            <a:srgbClr val="F8FAF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1188720"/>
            <a:ext cx="2606040" cy="45720"/>
          </a:xfrm>
          <a:prstGeom prst="rect">
            <a:avLst/>
          </a:prstGeom>
          <a:solidFill>
            <a:srgbClr val="00875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173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1828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QR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63640" y="2148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publique de verification d'authenticite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017520"/>
            <a:ext cx="2606040" cy="1554480"/>
          </a:xfrm>
          <a:prstGeom prst="rect">
            <a:avLst/>
          </a:prstGeom>
          <a:solidFill>
            <a:srgbClr val="F8FAF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" y="3017520"/>
            <a:ext cx="2606040" cy="45720"/>
          </a:xfrm>
          <a:prstGeom prst="rect">
            <a:avLst/>
          </a:prstGeom>
          <a:solidFill>
            <a:srgbClr val="00875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461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94360" y="3657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94360" y="3977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en temps reel sur l'avancement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91840" y="3017520"/>
            <a:ext cx="2606040" cy="1554480"/>
          </a:xfrm>
          <a:prstGeom prst="rect">
            <a:avLst/>
          </a:prstGeom>
          <a:solidFill>
            <a:srgbClr val="F8FAF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91840" y="3017520"/>
            <a:ext cx="2606040" cy="45720"/>
          </a:xfrm>
          <a:prstGeom prst="rect">
            <a:avLst/>
          </a:prstGeom>
          <a:solidFill>
            <a:srgbClr val="00875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24612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29000" y="3657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numerique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429000" y="3977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signes et infalsifiables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26480" y="3017520"/>
            <a:ext cx="2606040" cy="1554480"/>
          </a:xfrm>
          <a:prstGeom prst="rect">
            <a:avLst/>
          </a:prstGeom>
          <a:solidFill>
            <a:srgbClr val="F8FAF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26480" y="3017520"/>
            <a:ext cx="2606040" cy="45720"/>
          </a:xfrm>
          <a:prstGeom prst="rect">
            <a:avLst/>
          </a:prstGeom>
          <a:solidFill>
            <a:srgbClr val="00875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24612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63640" y="3657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Multi-documents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263640" y="3977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 de naissance, casier, residence, etc.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75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technique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1554480"/>
          </a:xfrm>
          <a:prstGeom prst="rect">
            <a:avLst/>
          </a:prstGeom>
          <a:solidFill>
            <a:srgbClr val="00875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Next.js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moderne, responsive, performante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18872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91840" y="1188720"/>
            <a:ext cx="54864" cy="155448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4173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securisee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2044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authentifies, validation stricte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18872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1188720"/>
            <a:ext cx="54864" cy="155448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nationale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5508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avec replication et backups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01752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" y="3017520"/>
            <a:ext cx="54864" cy="1554480"/>
          </a:xfrm>
          <a:prstGeom prst="rect">
            <a:avLst/>
          </a:prstGeom>
          <a:solidFill>
            <a:srgbClr val="E8112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461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" y="3657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E2E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85800" y="3977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AES-256, TLS 1.3, donnees au repos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91840" y="301752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91840" y="3017520"/>
            <a:ext cx="54864" cy="1554480"/>
          </a:xfrm>
          <a:prstGeom prst="rect">
            <a:avLst/>
          </a:prstGeom>
          <a:solidFill>
            <a:srgbClr val="6D2E4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24612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520440" y="3657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Hebergement souverain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520440" y="3977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Datacenters dans le pays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26480" y="301752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26480" y="3017520"/>
            <a:ext cx="54864" cy="155448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24612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355080" y="3657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mobile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355080" y="3977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PWA, responsive, SMS/USSD prevu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7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74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Securite &amp; Conformite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40080" y="1188720"/>
            <a:ext cx="3840480" cy="1051560"/>
          </a:xfrm>
          <a:prstGeom prst="rect">
            <a:avLst/>
          </a:prstGeom>
          <a:solidFill>
            <a:srgbClr val="253D5E">
              <a:alpha val="50000"/>
            </a:srgbClr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1261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AES-256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280160" y="1627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chiffrees au repos et en transit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846320" y="1188720"/>
            <a:ext cx="3840480" cy="1051560"/>
          </a:xfrm>
          <a:prstGeom prst="rect">
            <a:avLst/>
          </a:prstGeom>
          <a:solidFill>
            <a:srgbClr val="253D5E">
              <a:alpha val="50000"/>
            </a:srgbClr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2588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0" y="1261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complet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5486400" y="1627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Traçabilite de chaque acces et modification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640080" y="2423160"/>
            <a:ext cx="3840480" cy="1051560"/>
          </a:xfrm>
          <a:prstGeom prst="rect">
            <a:avLst/>
          </a:prstGeom>
          <a:solidFill>
            <a:srgbClr val="253D5E">
              <a:alpha val="50000"/>
            </a:srgbClr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56032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2496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biometrique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1280160" y="28620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Empreinte et reconnaissance faciale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3657600" y="2560320"/>
            <a:ext cx="685800" cy="274320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18" name="Text 12"/>
          <p:cNvSpPr/>
          <p:nvPr/>
        </p:nvSpPr>
        <p:spPr>
          <a:xfrm>
            <a:off x="3657600" y="25603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4846320" y="2423160"/>
            <a:ext cx="3840480" cy="1051560"/>
          </a:xfrm>
          <a:prstGeom prst="rect">
            <a:avLst/>
          </a:prstGeom>
          <a:solidFill>
            <a:srgbClr val="253D5E">
              <a:alpha val="50000"/>
            </a:srgbClr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5603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486400" y="2496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Hebergement souverain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5486400" y="28620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Serveurs dans le pays, controle total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40080" y="3657600"/>
            <a:ext cx="3840480" cy="1051560"/>
          </a:xfrm>
          <a:prstGeom prst="rect">
            <a:avLst/>
          </a:prstGeom>
          <a:solidFill>
            <a:srgbClr val="253D5E">
              <a:alpha val="50000"/>
            </a:srgbClr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79476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80160" y="3730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Conformite RGPD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1280160" y="40965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des lois locales et internationales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4846320" y="3657600"/>
            <a:ext cx="3840480" cy="1051560"/>
          </a:xfrm>
          <a:prstGeom prst="rect">
            <a:avLst/>
          </a:prstGeom>
          <a:solidFill>
            <a:srgbClr val="253D5E">
              <a:alpha val="50000"/>
            </a:srgbClr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379476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486400" y="3730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proofs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5486400" y="40965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sans reveler les donnees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7863840" y="3794760"/>
            <a:ext cx="685800" cy="274320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32" name="Text 23"/>
          <p:cNvSpPr/>
          <p:nvPr/>
        </p:nvSpPr>
        <p:spPr>
          <a:xfrm>
            <a:off x="7863840" y="379476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75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Benchmarks internationaux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modeles qui prouvent que ca marche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20240" cy="3017520"/>
          </a:xfrm>
          <a:prstGeom prst="rect">
            <a:avLst/>
          </a:prstGeom>
          <a:solidFill>
            <a:srgbClr val="F8FAF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1920240" cy="640080"/>
          </a:xfrm>
          <a:prstGeom prst="rect">
            <a:avLst/>
          </a:prstGeom>
          <a:solidFill>
            <a:srgbClr val="0051A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Estonie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51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94360" y="3017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services publics en ligne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657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e-Residency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06040" y="1463040"/>
            <a:ext cx="1920240" cy="3017520"/>
          </a:xfrm>
          <a:prstGeom prst="rect">
            <a:avLst/>
          </a:prstGeom>
          <a:solidFill>
            <a:srgbClr val="F8FAF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1463040"/>
            <a:ext cx="1920240" cy="6400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1463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Emirats Arabes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6040" y="2286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6M+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743200" y="3017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 actifs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3657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Pass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463040"/>
            <a:ext cx="1920240" cy="3017520"/>
          </a:xfrm>
          <a:prstGeom prst="rect">
            <a:avLst/>
          </a:prstGeom>
          <a:solidFill>
            <a:srgbClr val="F8FAF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463040"/>
            <a:ext cx="1920240" cy="64008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463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54880" y="2286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6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150M+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892040" y="3017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stockes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657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DigiLocker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03720" y="1463040"/>
            <a:ext cx="1920240" cy="3017520"/>
          </a:xfrm>
          <a:prstGeom prst="rect">
            <a:avLst/>
          </a:prstGeom>
          <a:solidFill>
            <a:srgbClr val="F8FAF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03720" y="1463040"/>
            <a:ext cx="1920240" cy="640080"/>
          </a:xfrm>
          <a:prstGeom prst="rect">
            <a:avLst/>
          </a:prstGeom>
          <a:solidFill>
            <a:srgbClr val="00A1DE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1463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Rwanda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03720" y="2286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1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7040880" y="3017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en ligne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40880" y="3657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Irembo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75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Feuille de route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371600" y="1463040"/>
            <a:ext cx="6400800" cy="0"/>
          </a:xfrm>
          <a:prstGeom prst="line">
            <a:avLst/>
          </a:prstGeom>
          <a:noFill/>
          <a:ln w="38100">
            <a:solidFill>
              <a:srgbClr val="0087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34440"/>
            <a:ext cx="457200" cy="457200"/>
          </a:xfrm>
          <a:prstGeom prst="ellipse">
            <a:avLst/>
          </a:prstGeom>
          <a:solidFill>
            <a:srgbClr val="008751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920240"/>
            <a:ext cx="23774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1920240"/>
            <a:ext cx="2377440" cy="54864"/>
          </a:xfrm>
          <a:prstGeom prst="rect">
            <a:avLst/>
          </a:prstGeom>
          <a:solidFill>
            <a:srgbClr val="008751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057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87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283464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avec 5 documents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Deploiement a Cotonou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utilisateurs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etat civil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123444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Shape 10"/>
          <p:cNvSpPr/>
          <p:nvPr/>
        </p:nvSpPr>
        <p:spPr>
          <a:xfrm>
            <a:off x="3749040" y="1920240"/>
            <a:ext cx="23774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49040" y="1920240"/>
            <a:ext cx="237744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2057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49040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0" y="283464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types de documents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grandes villes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biometrique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 native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86600" y="1234440"/>
            <a:ext cx="457200" cy="457200"/>
          </a:xfrm>
          <a:prstGeom prst="ellipse">
            <a:avLst/>
          </a:prstGeom>
          <a:solidFill>
            <a:srgbClr val="FCD116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1920240"/>
            <a:ext cx="23774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1920240"/>
            <a:ext cx="2377440" cy="54864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057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mois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283464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documents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CEDEAO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proofs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secteur prive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75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&amp; ROI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828800"/>
          </a:xfrm>
          <a:prstGeom prst="rect">
            <a:avLst/>
          </a:prstGeom>
          <a:solidFill>
            <a:srgbClr val="F8FAF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500K-1M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 initial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188720"/>
            <a:ext cx="2651760" cy="1828800"/>
          </a:xfrm>
          <a:prstGeom prst="rect">
            <a:avLst/>
          </a:prstGeom>
          <a:solidFill>
            <a:srgbClr val="F8FAF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188720"/>
            <a:ext cx="2651760" cy="54864"/>
          </a:xfrm>
          <a:prstGeom prst="rect">
            <a:avLst/>
          </a:prstGeom>
          <a:solidFill>
            <a:srgbClr val="008751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87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5M+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37560" y="20574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USD/an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Economies estimees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651760" cy="1828800"/>
          </a:xfrm>
          <a:prstGeom prst="rect">
            <a:avLst/>
          </a:prstGeom>
          <a:solidFill>
            <a:srgbClr val="F8FAF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88720"/>
            <a:ext cx="265176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17920" y="20574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positif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8229600" cy="146304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d'economies et revenus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374904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du personnel administratif et des locaux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Elimination des couts papier, impression, stockage physique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API pour banques, assurances, employeurs (verification de documents)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Timbres numeriques generant des revenus directs pour l'Etat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75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Equipe &amp; Partenaires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54864"/>
          </a:xfrm>
          <a:prstGeom prst="rect">
            <a:avLst/>
          </a:prstGeom>
          <a:solidFill>
            <a:srgbClr val="00875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3716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technique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46888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Developpeurs full-stack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securite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UX/UI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Infrastructure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18872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37560" y="1188720"/>
            <a:ext cx="2651760" cy="54864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3716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Partenaires gouvernementaux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11880" y="246888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Ministere de l'Interieur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de l'Etat Civil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Ministere du Numerique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ARCEP Benin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18872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188720"/>
            <a:ext cx="2651760" cy="54864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3716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Partenaires technologiques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92240" y="246888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Hebergeur souverain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 biometrie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Operateurs telecom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 cloud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75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27432"/>
          </a:xfrm>
          <a:prstGeom prst="rect">
            <a:avLst/>
          </a:prstGeom>
          <a:solidFill>
            <a:srgbClr val="FCD11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6400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Pret a moderniser</a:t>
            </a:r>
            <a:endParaRPr lang="en-US" sz="3600" dirty="0"/>
          </a:p>
          <a:p>
            <a:pPr algn="ctr"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l'administration ?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Rejoignez le mouvement de la transformation digitale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828800" y="3200400"/>
            <a:ext cx="5486400" cy="1097280"/>
          </a:xfrm>
          <a:prstGeom prst="rect">
            <a:avLst/>
          </a:prstGeom>
          <a:solidFill>
            <a:srgbClr val="253D5E">
              <a:alpha val="50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338328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46888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contact@citizenpass.bj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374904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46888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+229 XX XX XX XX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56616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9496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Cotonou, Benin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008751"/>
          </a:solidFill>
          <a:ln/>
        </p:spPr>
      </p:sp>
      <p:sp>
        <p:nvSpPr>
          <p:cNvPr id="15" name="Text 9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www.citizenpass.bj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CitizenPass - Pitch Deck</dc:title>
  <dc:subject>PptxGenJS Presentation</dc:subject>
  <dc:creator>CitizenPass</dc:creator>
  <cp:lastModifiedBy>CitizenPass</cp:lastModifiedBy>
  <cp:revision>1</cp:revision>
  <dcterms:created xsi:type="dcterms:W3CDTF">2026-04-09T07:43:41Z</dcterms:created>
  <dcterms:modified xsi:type="dcterms:W3CDTF">2026-04-09T07:43:41Z</dcterms:modified>
</cp:coreProperties>
</file>